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thầy và các bạn. Nhóm em trình bày đồ án Hệ thống Quản trị Kinh doanh xây dựng theo kiến trúc microservices. (~30s)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Bài trình bày gồm 11 phần: từ bài toán, kiến trúc, thiết kế, các cơ chế phân tán, demo, đến triển khai và kiểm thử. (~40s)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33272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64748B"/>
                </a:solidFill>
                <a:latin typeface="Arial"/>
              </a:rPr>
              <a:t>TRƯỜNG ĐẠI HỌC KHOA HỌC TỰ NHIÊN – ĐHQG TP.HCM</a:t>
            </a:r>
          </a:p>
          <a:p>
            <a:pPr algn="ctr">
              <a:spcAft>
                <a:spcPts val="800"/>
              </a:spcAft>
            </a:pPr>
            <a:r>
              <a:rPr sz="1200" b="1" i="0">
                <a:solidFill>
                  <a:srgbClr val="64748B"/>
                </a:solidFill>
                <a:latin typeface="Arial"/>
              </a:rPr>
              <a:t>KHOA CÔNG NGHỆ THÔNG 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 i="0">
                <a:solidFill>
                  <a:srgbClr val="1F4E79"/>
                </a:solidFill>
                <a:latin typeface="Arial"/>
              </a:rPr>
              <a:t>HỆ THỐNG QUẢN TRỊ KINH DOANH</a:t>
            </a:r>
          </a:p>
          <a:p>
            <a:pPr algn="ctr">
              <a:spcAft>
                <a:spcPts val="800"/>
              </a:spcAft>
            </a:pPr>
            <a:r>
              <a:rPr sz="1800" b="0" i="1">
                <a:solidFill>
                  <a:srgbClr val="64748B"/>
                </a:solidFill>
                <a:latin typeface="Arial"/>
              </a:rPr>
              <a:t>Xây dựng ứng dụng phân tán theo kiến trúc Microservices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3566160"/>
            <a:ext cx="7772400" cy="2011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EA5E9"/>
                </a:solidFill>
                <a:latin typeface="Arial"/>
              </a:rPr>
              <a:t>Nhóm thực hiện</a:t>
            </a:r>
          </a:p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E293B"/>
                </a:solidFill>
                <a:latin typeface="Arial"/>
              </a:rPr>
              <a:t>Vũ Huyền Thiên Lý — 21126028   (35%)</a:t>
            </a:r>
          </a:p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E293B"/>
                </a:solidFill>
                <a:latin typeface="Arial"/>
              </a:rPr>
              <a:t>Nguyễn Tuấn Kiệt — 21126027   (25%)</a:t>
            </a:r>
          </a:p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E293B"/>
                </a:solidFill>
                <a:latin typeface="Arial"/>
              </a:rPr>
              <a:t>Nguyễn Thế Thanh Long — 22127247   (25%)</a:t>
            </a:r>
          </a:p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E293B"/>
                </a:solidFill>
                <a:latin typeface="Arial"/>
              </a:rPr>
              <a:t>Nguyễn Hoàng Danh — 21126057   (15%)</a:t>
            </a:r>
          </a:p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64748B"/>
                </a:solidFill>
                <a:latin typeface="Arial"/>
              </a:rPr>
              <a:t>GVHD: Nguyễn Trường Sơn · Phạm Minh Tú</a:t>
            </a:r>
          </a:p>
        </p:txBody>
      </p:sp>
      <p:pic>
        <p:nvPicPr>
          <p:cNvPr id="7" name="Picture 6" descr="logo_hcm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62356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Nội dung trình bày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5120640" cy="4206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E293B"/>
                </a:solidFill>
                <a:latin typeface="Arial"/>
              </a:rPr>
              <a:t>1. Bài toán &amp; Yêu cầu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E293B"/>
                </a:solidFill>
                <a:latin typeface="Arial"/>
              </a:rPr>
              <a:t>2. Kiến trúc &amp; Công nghệ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E293B"/>
                </a:solidFill>
                <a:latin typeface="Arial"/>
              </a:rPr>
              <a:t>3. Thiết kế dữ liệu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E293B"/>
                </a:solidFill>
                <a:latin typeface="Arial"/>
              </a:rPr>
              <a:t>4. Giao tiếp trong hệ phân tán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E293B"/>
                </a:solidFill>
                <a:latin typeface="Arial"/>
              </a:rPr>
              <a:t>5. Quy trình phê duyệt (Workflow)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E293B"/>
                </a:solidFill>
                <a:latin typeface="Arial"/>
              </a:rPr>
              <a:t>6. Ký điện tử bất đồng bộ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737360"/>
            <a:ext cx="5120640" cy="4206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7. Demo giao diện &amp; chức năng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8. Xử lý bài toán phân tán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9. Triển khai (Docker &amp; Kubernetes)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10. Kiểm thử &amp; Truy vết yêu cầu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11. Phân công &amp; Kết luận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Bài toán &amp; Yêu cầu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Bối cảnh, mục tiêu và phạm vi hệ thống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 · BÀI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Bối cảnh doanh nghiệp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Công ty ABC: dịch vụ logistics — khai thác cảng, vận chuyển, lưu kho, bốc xếp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Mỗi tháng phát sinh nhiều hợp đồng, phụ lục, bảng giá, sản lượng, bảng thanh toán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Nhiều phòng ban tham gia: Kinh doanh, Khai thác, Kế toán, Pháp chế, Giám đốc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 · BÀI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Vấn đề hiện trạng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Xử lý thủ công qua email / Excel / giấy tờ → thông tin phân tán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Khó kiểm soát trạng thái hồ sơ, khó biết ai đang giữ hồ sơ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Khó truy vết lịch sử thay đổi; dễ sai lệch khi giá/sản lượng thay đổi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→ Cần một hệ thống tập trung quản lý trọn vòng đời hồ sơ kinh doanh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 ·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Yêu cầu chức năng (mục 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5257800" cy="42976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99632" y="1737360"/>
            <a:ext cx="5257800" cy="42976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800600" cy="3931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4E79"/>
                </a:solidFill>
                <a:latin typeface="Arial"/>
              </a:rPr>
              <a:t>Nghiệp vụ lõi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Khách hàng &amp; danh mục dịch vụ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Hợp đồng &amp; phụ lục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Bảng giá (nhiều phiên bản)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Sản lượng thực hiện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Bảng thanh toán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8232" y="1920240"/>
            <a:ext cx="4800600" cy="3931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4E79"/>
                </a:solidFill>
                <a:latin typeface="Arial"/>
              </a:rPr>
              <a:t>Xuyên suốt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Quy trình phê duyệt cấu hình được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Ký điện tử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Thông báo bất đồng bộ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Nhật ký &amp; truy vết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Phân quyền theo vai trò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 ·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Yêu cầu kỹ thuật (mục 6)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Kiến trúc Microservices: ≥ 4 service nghiệp vụ + API Gateway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Backend FastAPI, có OpenAPI/Swagger; mỗi service có DB/schema riêng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PostgreSQL (dữ liệu) · Redis (cache/rate-limit) · Kafka (bất đồng bộ)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Docker Compose (dev) + Kubernetes (minikube)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Logging, error handling, validation, phân quyền bằng JWT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Kiến trúc &amp; Công nghệ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Tổng thể hệ thống và stack sử dụng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2 · KIẾN TRÚC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Kiến trúc tổng thể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ra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6359" y="1737360"/>
            <a:ext cx="8648802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Gateway điều phối &amp; xác thực; service gọi REST cho lệnh, phát/nhận sự kiện qua Kafka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2 · KIẾN TRÚC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9 service chạy độc lập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39136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39136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Service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Vai trò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api-gateway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Reverse proxy, verify JWT, rate-limit, idempotency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identity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User, role, JWT (access/refresh), blacklist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Khách hàng + danh mục dịch vụ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contract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Hợp đồng + phụ lục (CTR)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pricing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Bảng giá + version (PRC)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billing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Sản lượng + bảng thanh toán (PAY)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workflow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Engine phê duyệt data-driven + điều phối ký (APR)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notification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Thông báo + nhật ký truy vết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9136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mock-esign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Nhà cung cấp ký điện tử giả lập (async)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2 · CÔNG NGHỆ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Công nghệ sử dụng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5257800" cy="42976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99632" y="1737360"/>
            <a:ext cx="5257800" cy="42976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800600" cy="3931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4E79"/>
                </a:solidFill>
                <a:latin typeface="Arial"/>
              </a:rPr>
              <a:t>Backend &amp; dữ liệu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FastAPI + SQLAlchemy 2 + Pydantic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PostgreSQL 16 (DB-per-service)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Redis · Apache Kafka (KRaft)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JWT + RBAC 7 vai trò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8232" y="1920240"/>
            <a:ext cx="4800600" cy="3931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4E79"/>
                </a:solidFill>
                <a:latin typeface="Arial"/>
              </a:rPr>
              <a:t>Frontend &amp; hạ tầng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React + Vite + TypeScript + Tailwind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Docker Compose (14 container)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Kubernetes (minikube)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OpenAPI/Swagger tự sinh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2 · THIẾT KẾ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Quyết định thiết kế chính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Microservices theo bounded context → mỗi service một trách nhiệm rõ ràng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Database-per-service → cô lập dữ liệu, không FK xuyên service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Bất đồng bộ qua Kafka + Outbox → chống mất sự kiện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Workflow cấu hình bằng dữ liệu → không hard-code quy trình duyệt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Zero-trust nội bộ: mỗi service vẫn tự verify JWT dù đã qua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Thiết kế dữ liệu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Mô hình dữ liệu và Database-per-Service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3 ·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Database-per-Service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1 cụm PostgreSQL, mỗi service 1 database riêng (authdb, contractdb, …)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Không FK xuyên service — liên kết bằng mã nghiệp vụ (customer_code, …)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Ưu điểm: cô lập lỗi, độc lập triển khai, dễ mở rộng từng service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Điểm nhấn (PAY-03): bảng thanh toán COPY cứng đơn giá tại thời điểm tính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3 ·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Sơ đồ ERD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188" y="1737360"/>
            <a:ext cx="6597143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Các thực thể chính và quan hệ (theo từng service)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Giao tiếp trong hệ phân tán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Đồng bộ (REST) và bất đồng bộ (Kafka + Outbox)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4 · GIAO TIẾP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Hai kiểu giao tiếp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5257800" cy="42976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99632" y="1737360"/>
            <a:ext cx="5257800" cy="42976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800600" cy="3931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4E79"/>
                </a:solidFill>
                <a:latin typeface="Arial"/>
              </a:rPr>
              <a:t>Đồng bộ — REST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Dùng cho lệnh cần kết quả ngay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Gateway → service; service → service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VD: submit hồ sơ, billing lấy giá/HĐ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8232" y="1920240"/>
            <a:ext cx="4800600" cy="3931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4E79"/>
                </a:solidFill>
                <a:latin typeface="Arial"/>
              </a:rPr>
              <a:t>Bất đồng bộ — Kafka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Dùng cho lan truyền sự kiện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Thông báo, audit, kết quả duyệt/ký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Rã kết nối (loose coupling), chịu lỗi tốt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4 · GIAO TIẾP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Outbox Pattern — chống mất sự kiện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Vấn đề: ghi DB thành công nhưng phát Kafka lỗi → mất sự kiện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Giải pháp: ghi thay đổi + bản ghi outbox trong CÙNG một transaction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Một relay đọc outbox → phát Kafka → đánh dấu đã gửi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Consumer idempotent → an toàn khi phát lại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4 · GIAO TIẾP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Sự kiện thật trên Kafka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-kafka-mess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81" y="1783080"/>
            <a:ext cx="7273397" cy="3977639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83879" y="1828800"/>
            <a:ext cx="3383280" cy="40233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5 topic: contract / pricing / billing / workflow / esign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Mỗi message có event_id, occurred_at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Phát qua Outbox, consumer xử lý idempotent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Quy trình phê duyệt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Workflow engine cấu hình bằng dữ liệu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5 ·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Workflow data-driven (không hard-code)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Quy trình lưu trong bảng: định nghĩa theo loại hồ sơ + các bước + người duyệt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Engine đọc DB để quyết định bước kế tiếp — KHÔNG viết if/else theo loại hồ sơ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Mỗi loại hồ sơ (Hợp đồng / Bảng giá / Thanh toán) có quy trình riêng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Thêm/sửa quy trình = sửa dữ liệu, không cần sửa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5 ·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Cấu hình quy trình duyệt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7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15" y="1783080"/>
            <a:ext cx="7280330" cy="3977639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83879" y="1828800"/>
            <a:ext cx="3383280" cy="40233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Quản trị người dùng + vai trò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Xem cấu hình từng quy trình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Hợp đồng: 4 cấp; Thanh toán: 2 cấp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5 ·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Trình tự duyệt hợp đồng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ram-seq-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6359" y="1737360"/>
            <a:ext cx="8648802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Submit → duyệt các cấp → phát DocApproved (Kafka) → hồ sơ chuyển Approved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5 ·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Các quy tắc phê duyệt (APR)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APR-01: chỉ đúng người được giao ở bước hiện tại (không chỉ kiểm role)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APR-02: không duyệt nhảy bước / duyệt lại bước đã xong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APR-03: reject / yêu cầu sửa bắt buộc nhập lý do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APR-05: bước cuối duyệt → phát sự kiện để xử lý tiếp (vd gửi ký)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Ký điện tử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Tích hợp bất đồng bộ với callback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6 · KÝ ĐIỆN TỬ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Luồng ký điện tử bất đồng bộ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ram-seq-pa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49911"/>
            <a:ext cx="10515600" cy="3889698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Bảng thanh toán duyệt xong → workflow tự gửi ký → mock-esign callback → Issued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6 · KÝ ĐIỆN TỬ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Quản lý phiên ký &amp; xử lý lỗi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Trạng thái phiên ký TÁCH BIỆT trạng thái duyệt (pending/signing/signed/failed)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Chỉ gửi ký sau khi hồ sơ được duyệt nội bộ (PAY-06)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Ký thất bại → phản ánh rõ + cho phép GỬI KÝ LẠI (PAY-07, SC-06)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Nếu dịch vụ ký lỗi tạm thời → có retry, không hỏng dữ liệu đã duyệt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Demo giao diện &amp; chức năng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Minh chứng các chức năng nghiệp vụ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Đăng nhập &amp; Tổng quan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237" y="1737360"/>
            <a:ext cx="7517046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Xác thực JWT; dashboard tổng hợp số liệu theo vai trò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Quản lý khách hàng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-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194" y="1737360"/>
            <a:ext cx="7513131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Chức năng 4.1 — CRUD khách hàng, danh mục dịch vụ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Hợp đồng &amp; tiến trình duyệt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-contrac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194" y="1737360"/>
            <a:ext cx="7513131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Chức năng 4.2/4.3 — chi tiết hợp đồng + tiến trình duyệt 4 cấp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Bảng giá nhiều phiên bản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-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194" y="1737360"/>
            <a:ext cx="7513131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Chức năng 4.4 — version Effective/Superseded, tra giá theo ngày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Sản lượng &amp; khóa kỳ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-volu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617" y="1737360"/>
            <a:ext cx="7520286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Chức năng 4.5 — ghi nhận sản lượng, khóa kỳ trước khi tính phí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Bảng thanh toán (khớp Phụ lục A.8)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-paymen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194" y="1737360"/>
            <a:ext cx="7513131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Chức năng 4.6/4.8 — tổng 50.500.000đ, trạng thái Issued, ký điện tử 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Hộp thư phê duyệt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4-approval-in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237" y="1737360"/>
            <a:ext cx="7517046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Chức năng 4.7 — chỉ đúng người được giao mới thấy &amp; xử lý tác vụ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Thông báo &amp; Nhật ký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6-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7032" y="1737360"/>
            <a:ext cx="7527455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Chức năng 4.9/4.10 — thông báo bất đồng bộ + truy vết đầy đủ theo hồ sơ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Xử lý bài toán phân tán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Các điểm nhấn kỹ thuật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8 · PHÂN TÁN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7 vấn đề phân tán &amp; giải pháp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314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126480"/>
              </a:tblGrid>
              <a:tr h="3931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Vấn đề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Giải pháp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Quy trình không hard-code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Engine đọc định nghĩa từ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Double submit (SC-09)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Idempotency-Key (Redis) + instance duy nhất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Race condition duyệt (SC-05)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Optimistic locking (version) → 409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Mất sự kiện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Outbox Pattern + consumer idempotent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Phân quyền theo ngữ cảnh (SC-08)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Kiểm tra đúng assignee, không chỉ 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Dữ liệu lịch sử (SC-04/10)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Chọn giá theo ngày + copy đơn giá cứng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Service phụ lỗi (SC-07)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Async + Outbox, nghiệp vụ chính không hỏng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8 · PHÂN TÁN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Chặn sai quy tắc nghiệp vụ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3-sc01-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42" y="1783080"/>
            <a:ext cx="7266476" cy="3977639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83879" y="1828800"/>
            <a:ext cx="3383280" cy="40233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CTR-02/SC-01: thiếu tài liệu → chặn submit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Rule enforce ở tầng service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Trả mã lỗi rõ ràng, chuẩn hóa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Triển khai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Docker Compose và Kubernetes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9 · TRIỂN KHAI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Docker Compose (môi trường dev)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31375"/>
            <a:ext cx="7315200" cy="1281049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83879" y="1828800"/>
            <a:ext cx="3383280" cy="40233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14 container chạy độc lập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1 lệnh: make up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Postgres · Redis · Kafka · 9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9 · TRIỂN KHAI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Kubernetes (minikube)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20-k8s-p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03788"/>
            <a:ext cx="7315200" cy="3136222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83879" y="1828800"/>
            <a:ext cx="3383280" cy="40233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Manifests: namespace, config, hạ tầng, 9 service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Toàn bộ pod Running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Deploy được trên minikube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Kiểm thử &amp; Truy vết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Chất lượng và bao phủ yêu cầu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10 · KIỂM THỬ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Kiểm thử kịch bản (SC-01→SC-10)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8-smoke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06094"/>
            <a:ext cx="7315200" cy="2931611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83879" y="1828800"/>
            <a:ext cx="3383280" cy="40233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Smoke test end-to-end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14/14 assertion PASS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Bao phủ toàn bộ Phụ lục A.12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10 · KIỂM THỬ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Unit test (pytest)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9-unit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91046"/>
            <a:ext cx="7315200" cy="2361706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83879" y="1828800"/>
            <a:ext cx="3383280" cy="40233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State machine &amp; business rules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31/31 test PASS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4 service: contract, pricing, workflow, billing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10 · TRUY VẾT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Bao phủ yêu cầu (truy vết)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Chức năng 4.1–4.10: đầy đủ, có minh chứng giao diện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Business rules CTR / PRC / PAY / APR: enforce ở tầng service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Kịch bản SC-01→SC-10: 14/14 PASS (tự động)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Yêu cầu kỹ thuật mục 6: Microservices, Gateway, PostgreSQL, Redis, Kafka, Docker, Kubernetes, JWT — đủ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Phân công &amp; Kết luận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Đóng góp và hướng phát triển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11 · PHÂN CÔNG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Phân công công việc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59" cy="19933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731520"/>
                <a:gridCol w="7498079"/>
              </a:tblGrid>
              <a:tr h="39867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Thành viên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Công việc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Vũ Huyền Thiên Lý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Kiến trúc; Gateway, Identity, Contract, Pricing, Workflow, Notification; hạ tầng, kiểm thử, báo cáo/slide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Nguyễn Tuấn Kiệt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Frontend: khung + Khách hàng, Dịch vụ, Hợp đồng, Bảng giá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Nguyễn Thế Thanh Long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Frontend: Sản lượng, Thanh toán, Phê duyệt, Thông báo, Nhật ký, Quản trị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867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Nguyễn Hoàng Danh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Backend: Customer, Billing, Mock e-sign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11 · KẾT LUẬN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Kết luận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Hiện thực đầy đủ nghiệp vụ quản trị kinh doanh trên kiến trúc microservices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Giải quyết trọn các bài toán phân tán: Outbox, idempotency, optimistic lock, phân quyền ngữ cảnh, ký điện tử async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Triển khai thành công trên Docker Compose và Kubernetes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Kiểm chứng bằng bộ test tự động: 14/14 smoke + 31/31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11 · KẾT LUẬN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Hướng phát triển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Thay Outbox relay bằng CDC (Debezium)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Thêm distributed tracing (OpenTelemetry) để quan sát xuyên service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Auto-scaling (HPA) và lưu trữ bền (PVC/StatefulSet) trên Kubernetes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Tích hợp dịch vụ ký điện tử thật thay cho mock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CẢM ƠN THẦY VÀ CÁC BẠN ĐÃ LẮNG NGHE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B6C7DB"/>
                </a:solidFill>
                <a:latin typeface="Arial"/>
              </a:rPr>
              <a:t>Mã nguồn: github.com/lizly15/UDPT</a:t>
            </a:r>
          </a:p>
          <a:p>
            <a:pPr algn="ctr">
              <a:spcAft>
                <a:spcPts val="1400"/>
              </a:spcAft>
            </a:pPr>
            <a:r>
              <a:rPr sz="2000" b="1" i="0">
                <a:solidFill>
                  <a:srgbClr val="0EA5E9"/>
                </a:solidFill>
                <a:latin typeface="Arial"/>
              </a:rPr>
              <a:t>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